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embeddedFontLst>
    <p:embeddedFont>
      <p:font typeface="Tahoma" panose="020B0604030504040204" pitchFamily="3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ibqw17BGhSSGg0QUrGdl4z4Sav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0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224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 rot="5400000">
            <a:off x="4653757" y="2097882"/>
            <a:ext cx="6008687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 rot="5400000">
            <a:off x="462756" y="116681"/>
            <a:ext cx="6008687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 rot="5400000">
            <a:off x="2366169" y="-189707"/>
            <a:ext cx="44116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640"/>
              </a:spcBef>
              <a:spcAft>
                <a:spcPts val="0"/>
              </a:spcAft>
              <a:buSzPts val="2240"/>
              <a:buChar char="●"/>
              <a:defRPr sz="32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3pPr>
            <a:lvl4pPr marL="1828800" lvl="3" indent="-32385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SzPts val="1600"/>
              <a:buChar char="▪"/>
              <a:defRPr sz="20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●"/>
              <a:defRPr sz="1800"/>
            </a:lvl3pPr>
            <a:lvl4pPr marL="1828800" lvl="3" indent="-304800" algn="l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4pPr>
            <a:lvl5pPr marL="2286000" lvl="4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5pPr>
            <a:lvl6pPr marL="2743200" lvl="5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6pPr>
            <a:lvl7pPr marL="3200400" lvl="6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7pPr>
            <a:lvl8pPr marL="3657600" lvl="7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8pPr>
            <a:lvl9pPr marL="4114800" lvl="8" indent="-309879" algn="l">
              <a:spcBef>
                <a:spcPts val="320"/>
              </a:spcBef>
              <a:spcAft>
                <a:spcPts val="0"/>
              </a:spcAft>
              <a:buSzPts val="1280"/>
              <a:buChar char="▪"/>
              <a:defRPr sz="1600"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body" idx="1"/>
          </p:nvPr>
        </p:nvSpPr>
        <p:spPr>
          <a:xfrm>
            <a:off x="457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2"/>
          </p:nvPr>
        </p:nvSpPr>
        <p:spPr>
          <a:xfrm>
            <a:off x="4648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●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●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●"/>
              <a:defRPr sz="2000"/>
            </a:lvl3pPr>
            <a:lvl4pPr marL="1828800" lvl="3" indent="-314325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4pPr>
            <a:lvl5pPr marL="2286000" lvl="4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7pPr>
            <a:lvl8pPr marL="3657600" lvl="7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8pPr>
            <a:lvl9pPr marL="4114800" lvl="8" indent="-320040" algn="l">
              <a:spcBef>
                <a:spcPts val="360"/>
              </a:spcBef>
              <a:spcAft>
                <a:spcPts val="0"/>
              </a:spcAft>
              <a:buSzPts val="1440"/>
              <a:buChar char="▪"/>
              <a:defRPr sz="1800"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120"/>
              <a:buNone/>
              <a:defRPr sz="1400"/>
            </a:lvl9pPr>
          </a:lstStyle>
          <a:p>
            <a:endParaRPr/>
          </a:p>
        </p:txBody>
      </p:sp>
      <p:sp>
        <p:nvSpPr>
          <p:cNvPr id="154" name="Google Shape;154;p2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2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1" name="Google Shape;11;p12"/>
          <p:cNvGrpSpPr/>
          <p:nvPr/>
        </p:nvGrpSpPr>
        <p:grpSpPr>
          <a:xfrm>
            <a:off x="7493000" y="2992437"/>
            <a:ext cx="1338262" cy="2189162"/>
            <a:chOff x="4704" y="1885"/>
            <a:chExt cx="843" cy="1379"/>
          </a:xfrm>
        </p:grpSpPr>
        <p:sp>
          <p:nvSpPr>
            <p:cNvPr id="12" name="Google Shape;12;p12"/>
            <p:cNvSpPr/>
            <p:nvPr/>
          </p:nvSpPr>
          <p:spPr>
            <a:xfrm>
              <a:off x="4704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2"/>
            <p:cNvSpPr/>
            <p:nvPr/>
          </p:nvSpPr>
          <p:spPr>
            <a:xfrm>
              <a:off x="4883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2"/>
            <p:cNvSpPr/>
            <p:nvPr/>
          </p:nvSpPr>
          <p:spPr>
            <a:xfrm>
              <a:off x="5062" y="1885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2"/>
            <p:cNvSpPr/>
            <p:nvPr/>
          </p:nvSpPr>
          <p:spPr>
            <a:xfrm>
              <a:off x="4704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4883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5062" y="2064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2"/>
            <p:cNvSpPr/>
            <p:nvPr/>
          </p:nvSpPr>
          <p:spPr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2"/>
            <p:cNvSpPr/>
            <p:nvPr/>
          </p:nvSpPr>
          <p:spPr>
            <a:xfrm>
              <a:off x="4704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2"/>
            <p:cNvSpPr/>
            <p:nvPr/>
          </p:nvSpPr>
          <p:spPr>
            <a:xfrm>
              <a:off x="4883" y="2243"/>
              <a:ext cx="127" cy="12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2"/>
            <p:cNvSpPr/>
            <p:nvPr/>
          </p:nvSpPr>
          <p:spPr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4704" y="2421"/>
              <a:ext cx="127" cy="128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2"/>
            <p:cNvSpPr/>
            <p:nvPr/>
          </p:nvSpPr>
          <p:spPr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2"/>
            <p:cNvSpPr/>
            <p:nvPr/>
          </p:nvSpPr>
          <p:spPr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2"/>
            <p:cNvSpPr/>
            <p:nvPr/>
          </p:nvSpPr>
          <p:spPr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2"/>
            <p:cNvSpPr/>
            <p:nvPr/>
          </p:nvSpPr>
          <p:spPr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" name="Google Shape;43;p12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9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1950" algn="l" rtl="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4169" algn="l" rtl="0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835" algn="l" rtl="0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385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8153400" y="152400"/>
            <a:ext cx="792162" cy="1295400"/>
            <a:chOff x="5136" y="960"/>
            <a:chExt cx="528" cy="864"/>
          </a:xfrm>
        </p:grpSpPr>
        <p:sp>
          <p:nvSpPr>
            <p:cNvPr id="63" name="Google Shape;63;p14"/>
            <p:cNvSpPr/>
            <p:nvPr/>
          </p:nvSpPr>
          <p:spPr>
            <a:xfrm>
              <a:off x="5136" y="960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5248" y="960"/>
              <a:ext cx="79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5360" y="960"/>
              <a:ext cx="76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5136" y="1072"/>
              <a:ext cx="80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5248" y="1072"/>
              <a:ext cx="79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5360" y="1072"/>
              <a:ext cx="76" cy="7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36" y="1184"/>
              <a:ext cx="80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5248" y="1184"/>
              <a:ext cx="79" cy="73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>
              <a:off x="5136" y="1296"/>
              <a:ext cx="80" cy="8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4"/>
            <p:cNvSpPr/>
            <p:nvPr/>
          </p:nvSpPr>
          <p:spPr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4"/>
            <p:cNvSpPr/>
            <p:nvPr/>
          </p:nvSpPr>
          <p:spPr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racle.com/javase/tutoria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netbeans.apache.org/kb/docs/java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pectrum.um.edu.my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etbeans.apache.org/download/nb125/nb125.html" TargetMode="External"/><Relationship Id="rId4" Type="http://schemas.openxmlformats.org/officeDocument/2006/relationships/hyperlink" Target="https://www.oracle.com/java/technologies/javase-downloads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"/>
          <p:cNvSpPr txBox="1">
            <a:spLocks noGrp="1"/>
          </p:cNvSpPr>
          <p:nvPr>
            <p:ph type="ctrTitle"/>
          </p:nvPr>
        </p:nvSpPr>
        <p:spPr>
          <a:xfrm>
            <a:off x="315912" y="381000"/>
            <a:ext cx="7227887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WIX1002</a:t>
            </a:r>
            <a:b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Fundamentals of Programming</a:t>
            </a:r>
            <a:endParaRPr/>
          </a:p>
        </p:txBody>
      </p:sp>
      <p:sp>
        <p:nvSpPr>
          <p:cNvPr id="162" name="Google Shape;162;p1"/>
          <p:cNvSpPr txBox="1">
            <a:spLocks noGrp="1"/>
          </p:cNvSpPr>
          <p:nvPr>
            <p:ph type="subTitle" idx="1"/>
          </p:nvPr>
        </p:nvSpPr>
        <p:spPr>
          <a:xfrm>
            <a:off x="381000" y="2895600"/>
            <a:ext cx="70866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lang="en-GB" sz="1800" b="1" dirty="0"/>
              <a:t>Dr. Unaizah Obaidellah – UO (unaizah@um.edu.my) - Coordinator </a:t>
            </a:r>
            <a:endParaRPr lang="en-MY" sz="1800" b="1" dirty="0"/>
          </a:p>
          <a:p>
            <a:pPr algn="l"/>
            <a:r>
              <a:rPr lang="en-GB" sz="1800" b="1" dirty="0"/>
              <a:t>Prof Dr Nor Badrul Anuar </a:t>
            </a:r>
            <a:r>
              <a:rPr lang="en-GB" sz="1800" b="1" dirty="0" err="1"/>
              <a:t>Juma’at</a:t>
            </a:r>
            <a:r>
              <a:rPr lang="en-GB" sz="1800" b="1" dirty="0"/>
              <a:t>  - NBA (badrul@um.edu.my)</a:t>
            </a:r>
            <a:endParaRPr lang="en-MY" sz="1800" b="1" dirty="0"/>
          </a:p>
          <a:p>
            <a:pPr algn="l"/>
            <a:r>
              <a:rPr lang="en-GB" sz="1800" b="1" dirty="0"/>
              <a:t>AP Dr Nizam Ayub – MNA (nizam_ayub@um.edu.my)</a:t>
            </a:r>
            <a:endParaRPr lang="en-MY" sz="1800" b="1" dirty="0"/>
          </a:p>
          <a:p>
            <a:pPr algn="l"/>
            <a:r>
              <a:rPr lang="en-GB" sz="1800" b="1" dirty="0"/>
              <a:t>Dr Hazim Hanif – HZM (hazimhanif@um.edu.my)</a:t>
            </a:r>
            <a:endParaRPr lang="en-MY" sz="1800" b="1" dirty="0"/>
          </a:p>
          <a:p>
            <a:pPr algn="l"/>
            <a:r>
              <a:rPr lang="en-GB" sz="1800" b="1" dirty="0"/>
              <a:t>Dr Uzair </a:t>
            </a:r>
            <a:r>
              <a:rPr lang="en-GB" sz="1800" b="1" dirty="0" err="1"/>
              <a:t>Istihaq</a:t>
            </a:r>
            <a:r>
              <a:rPr lang="en-GB" sz="1800" b="1" dirty="0"/>
              <a:t> – UZI (uzair@um.edu.my)</a:t>
            </a:r>
            <a:endParaRPr lang="en-MY" sz="1800" b="1" dirty="0"/>
          </a:p>
          <a:p>
            <a:pPr algn="l"/>
            <a:r>
              <a:rPr lang="en-GB" sz="1800" b="1" dirty="0"/>
              <a:t>Dr Adeleh </a:t>
            </a:r>
            <a:r>
              <a:rPr lang="en-GB" sz="1800" b="1" dirty="0" err="1"/>
              <a:t>Asemi</a:t>
            </a:r>
            <a:r>
              <a:rPr lang="en-GB" sz="1800" b="1" dirty="0"/>
              <a:t> </a:t>
            </a:r>
            <a:r>
              <a:rPr lang="en-GB" sz="1800" b="1" dirty="0" err="1"/>
              <a:t>Zavareh</a:t>
            </a:r>
            <a:r>
              <a:rPr lang="en-GB" sz="1800" b="1" dirty="0"/>
              <a:t> – AD (adeleh@um.edu.my)</a:t>
            </a:r>
            <a:endParaRPr lang="en-MY" sz="1800" b="1" dirty="0"/>
          </a:p>
          <a:p>
            <a:pPr algn="l"/>
            <a:r>
              <a:rPr lang="en-GB" sz="1800" b="1" dirty="0"/>
              <a:t>Dr Burhan Khan – BIK (burhankhan@um.edu.my)</a:t>
            </a:r>
            <a:endParaRPr lang="en-MY" sz="1800" b="1" dirty="0"/>
          </a:p>
          <a:p>
            <a:pPr algn="l"/>
            <a:r>
              <a:rPr lang="en-GB" sz="1800" b="1" dirty="0"/>
              <a:t>Dr Rasha Ragheb </a:t>
            </a:r>
            <a:r>
              <a:rPr lang="en-GB" sz="1800" b="1" dirty="0" err="1"/>
              <a:t>Attaallah</a:t>
            </a:r>
            <a:r>
              <a:rPr lang="en-GB" sz="1800" b="1" dirty="0"/>
              <a:t> – RRA (rashaatallah@um.edu.my)</a:t>
            </a:r>
            <a:endParaRPr lang="en-MY" sz="1800" b="1" dirty="0"/>
          </a:p>
          <a:p>
            <a:pPr algn="l"/>
            <a:r>
              <a:rPr lang="en-GB" sz="1800" b="1" dirty="0"/>
              <a:t>Dr Nurul Japar – NJ (nuruljapar@um.edu.my)</a:t>
            </a:r>
            <a:endParaRPr lang="en-MY" sz="1800" b="1" dirty="0"/>
          </a:p>
          <a:p>
            <a:pPr algn="l"/>
            <a:r>
              <a:rPr lang="en-GB" sz="1800" b="1" dirty="0"/>
              <a:t>Dr Muhammad Faiz Mohd Zaki – MFZ (faizzaki@um.edu.my)</a:t>
            </a:r>
            <a:endParaRPr sz="1800" b="1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endParaRPr lang="en-US" sz="16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6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Learning Outcomes</a:t>
            </a:r>
            <a:endParaRPr/>
          </a:p>
        </p:txBody>
      </p:sp>
      <p:sp>
        <p:nvSpPr>
          <p:cNvPr id="168" name="Google Shape;168;p2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the end of the course, the student is able to: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the steps of problem solving in programming.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Rewrite programs that contain errors.</a:t>
            </a:r>
            <a:endParaRPr/>
          </a:p>
          <a:p>
            <a:pPr marL="692150" lvl="1" indent="-347661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programs based on principles of object-oriented.</a:t>
            </a:r>
            <a:endParaRPr/>
          </a:p>
          <a:p>
            <a:pPr marL="342900" lvl="0" indent="-21844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 sz="2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Syllabus</a:t>
            </a:r>
            <a:endParaRPr/>
          </a:p>
        </p:txBody>
      </p:sp>
      <p:sp>
        <p:nvSpPr>
          <p:cNvPr id="174" name="Google Shape;17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1 - Problem Solving in Programming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2 - Java Fundamental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3 - Flow of Control (Selection)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4 - Flow of Control (Repetition I)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5 - Flow of Control (Repetition II)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6 - Array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7 - Java Methods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Syllabus</a:t>
            </a:r>
            <a:endParaRPr/>
          </a:p>
        </p:txBody>
      </p:sp>
      <p:sp>
        <p:nvSpPr>
          <p:cNvPr id="180" name="Google Shape;180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8 - Revision + Mid Semester Test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9 - File Input and Output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10 - Class 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11 - Inheritance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12 - Polymorphism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13 - Exception Handling</a:t>
            </a:r>
            <a:endParaRPr dirty="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14 – </a:t>
            </a:r>
            <a:r>
              <a:rPr lang="en-US" sz="2800" dirty="0"/>
              <a:t>Group Presentation</a:t>
            </a:r>
            <a:endParaRPr dirty="0"/>
          </a:p>
          <a:p>
            <a:pPr marL="342900" lvl="0" indent="-218440" algn="l" rtl="0">
              <a:spcBef>
                <a:spcPts val="560"/>
              </a:spcBef>
              <a:spcAft>
                <a:spcPts val="0"/>
              </a:spcAft>
              <a:buSzPts val="1960"/>
              <a:buNone/>
            </a:pPr>
            <a:endParaRPr sz="28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86" name="Google Shape;186;p5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Y. Daniel Liang, 2020, Introduction to Java Programming and Data Structures, Comprehensive Version, 12th Edition, Pearson. ISBN-10: 0136520235. 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Herbert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Schildt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2018, Java: A Beginner's Guide, 8</a:t>
            </a:r>
            <a:r>
              <a:rPr lang="en-US" sz="2400" b="0" i="0" u="none" baseline="30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Edition, McGraw-Hill Education, ISBN-10: 1260440214.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Joshua Bloch, 2017, Effective Java, 3rd Edition, Addison-Wesley Professional. ISBN-10: 0134685997.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 Tutorial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</a:pPr>
            <a:r>
              <a:rPr lang="en-US" sz="2000" b="0" i="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http://docs.oracle.com/javase/tutorial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lang="en-US" sz="20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NetBeans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</a:pPr>
            <a:r>
              <a:rPr lang="en-US" sz="2000" b="0" i="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http://netbeans.apache.org/kb/docs/java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sp>
        <p:nvSpPr>
          <p:cNvPr id="192" name="Google Shape;192;p6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eLearning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sng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http://spectrum.um.edu.my/</a:t>
            </a:r>
            <a:endParaRPr dirty="0"/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 SE Development Kit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sng" dirty="0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https://www.oracle.com/java/technologies/javase-downloads.html</a:t>
            </a:r>
            <a:endParaRPr dirty="0"/>
          </a:p>
          <a:p>
            <a:pPr marL="987425" lvl="2" indent="-293687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JDK download - Select the installer based on your OS type (windows,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linux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400" b="0" i="0" u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macos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Apache NetBeans 12.5</a:t>
            </a:r>
            <a:endParaRPr dirty="0"/>
          </a:p>
          <a:p>
            <a:pPr lvl="2" eaLnBrk="1" hangingPunct="1">
              <a:lnSpc>
                <a:spcPct val="90000"/>
              </a:lnSpc>
            </a:pPr>
            <a:r>
              <a:rPr lang="en-US" altLang="en-US" sz="2400" dirty="0">
                <a:hlinkClick r:id="rId5"/>
              </a:rPr>
              <a:t>https://netbeans.apache.org/download/nb125/nb125.html</a:t>
            </a:r>
            <a:endParaRPr lang="en-US" altLang="en-US" sz="2400" dirty="0"/>
          </a:p>
          <a:p>
            <a:pPr lvl="2" eaLnBrk="1" hangingPunct="1">
              <a:lnSpc>
                <a:spcPct val="90000"/>
              </a:lnSpc>
            </a:pPr>
            <a:r>
              <a:rPr lang="en-MY" altLang="en-US" sz="2400" dirty="0"/>
              <a:t>Select the installer based on your OS type (windows, </a:t>
            </a:r>
            <a:r>
              <a:rPr lang="en-MY" altLang="en-US" sz="2400" dirty="0" err="1"/>
              <a:t>linux</a:t>
            </a:r>
            <a:r>
              <a:rPr lang="en-MY" altLang="en-US" sz="2400" dirty="0"/>
              <a:t>, </a:t>
            </a:r>
            <a:r>
              <a:rPr lang="en-MY" altLang="en-US" sz="2400" dirty="0" err="1"/>
              <a:t>macos</a:t>
            </a:r>
            <a:r>
              <a:rPr lang="en-MY" altLang="en-US" sz="2400" dirty="0"/>
              <a:t>). 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lang="en-US" sz="20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Install JDK first before Apache NetBeans </a:t>
            </a:r>
            <a:endParaRPr dirty="0"/>
          </a:p>
          <a:p>
            <a:pPr marL="692150" lvl="1" indent="-240982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36220" algn="l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endParaRPr sz="2400" b="0" i="0" u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Table</a:t>
            </a:r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467E-EA6D-38E2-2BB0-089BD6666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06998A-3595-8020-8F52-9B5978F03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5" y="1617823"/>
            <a:ext cx="7936787" cy="48537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Assessments</a:t>
            </a:r>
            <a:endParaRPr/>
          </a:p>
        </p:txBody>
      </p:sp>
      <p:sp>
        <p:nvSpPr>
          <p:cNvPr id="210" name="Google Shape;210;p8"/>
          <p:cNvSpPr txBox="1">
            <a:spLocks noGrp="1"/>
          </p:cNvSpPr>
          <p:nvPr>
            <p:ph type="body" idx="1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Continuous Assessment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 Semester Test	 20%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(Week 8)</a:t>
            </a:r>
            <a:endParaRPr b="1"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1" dirty="0"/>
              <a:t>09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December 2025 (</a:t>
            </a:r>
            <a:r>
              <a:rPr lang="en-US" sz="2400" b="1" dirty="0"/>
              <a:t>Tuesday during Lecture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 (3x)	 (Group) </a:t>
            </a:r>
            <a:r>
              <a:rPr lang="en-US" sz="2400" dirty="0"/>
              <a:t>	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15%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 and Submission Due (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6</a:t>
            </a:r>
            <a:r>
              <a:rPr lang="en-US" sz="2400" b="1" dirty="0"/>
              <a:t>,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9</a:t>
            </a:r>
            <a:r>
              <a:rPr lang="en-US" sz="2400" b="1" dirty="0"/>
              <a:t>,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Week 12</a:t>
            </a: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92150" lvl="1" indent="-34766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</a:pPr>
            <a:r>
              <a:rPr lang="en-US" sz="2400" b="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(Group)	15%</a:t>
            </a:r>
            <a:endParaRPr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Submission Due 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(Week 1</a:t>
            </a:r>
            <a:r>
              <a:rPr lang="en-US" sz="2400" b="1" dirty="0"/>
              <a:t>3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– Fri, 16/01/2025</a:t>
            </a:r>
            <a:r>
              <a:rPr lang="en-US" sz="2400" b="1" dirty="0"/>
              <a:t>, 2359pm</a:t>
            </a:r>
            <a:r>
              <a:rPr lang="en-US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1" dirty="0"/>
          </a:p>
          <a:p>
            <a:pPr marL="987425" lvl="2" indent="-293687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</a:pPr>
            <a:r>
              <a:rPr lang="en-US" sz="2400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Assignment Presentation (Week 14)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Assessments</a:t>
            </a:r>
            <a:endParaRPr/>
          </a:p>
        </p:txBody>
      </p:sp>
      <p:sp>
        <p:nvSpPr>
          <p:cNvPr id="216" name="Google Shape;216;p9"/>
          <p:cNvSpPr txBox="1">
            <a:spLocks noGrp="1"/>
          </p:cNvSpPr>
          <p:nvPr>
            <p:ph type="body" idx="1"/>
          </p:nvPr>
        </p:nvSpPr>
        <p:spPr>
          <a:xfrm>
            <a:off x="457200" y="1760537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lang="en-SG" sz="2400" b="1" i="0" u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Exam (50%)</a:t>
            </a:r>
            <a:endParaRPr dirty="0"/>
          </a:p>
          <a:p>
            <a:pPr lvl="1" eaLnBrk="1" hangingPunct="1"/>
            <a:r>
              <a:rPr lang="en-US" altLang="en-US" sz="2400" dirty="0"/>
              <a:t>Date: </a:t>
            </a:r>
            <a:r>
              <a:rPr lang="en-US" altLang="en-US" sz="2400" i="1" dirty="0"/>
              <a:t>TBA</a:t>
            </a:r>
          </a:p>
          <a:p>
            <a:pPr lvl="1" eaLnBrk="1" hangingPunct="1"/>
            <a:r>
              <a:rPr lang="en-US" altLang="en-US" sz="2400" dirty="0"/>
              <a:t>Venue: TBA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 txBox="1">
            <a:spLocks noGrp="1"/>
          </p:cNvSpPr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 sz="3600" b="1" i="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Tips</a:t>
            </a:r>
            <a:endParaRPr/>
          </a:p>
        </p:txBody>
      </p:sp>
      <p:sp>
        <p:nvSpPr>
          <p:cNvPr id="222" name="Google Shape;222;p10"/>
          <p:cNvSpPr txBox="1">
            <a:spLocks noGrp="1"/>
          </p:cNvSpPr>
          <p:nvPr>
            <p:ph type="body" idx="1"/>
          </p:nvPr>
        </p:nvSpPr>
        <p:spPr>
          <a:xfrm>
            <a:off x="457200" y="14478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the concepts well.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 to programming examples.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more practice</a:t>
            </a:r>
            <a:endParaRPr/>
          </a:p>
          <a:p>
            <a:pPr marL="692150" lvl="1" indent="-347661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Get a programming book.</a:t>
            </a:r>
            <a:endParaRPr/>
          </a:p>
          <a:p>
            <a:pPr marL="692150" lvl="1" indent="-347661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</a:pPr>
            <a:r>
              <a:rPr lang="en-US" sz="28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Complete all the tutorials and lab exercises by yourself.</a:t>
            </a:r>
            <a:endParaRPr/>
          </a:p>
          <a:p>
            <a:pPr marL="692150" lvl="1" indent="-240982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lvl="0" indent="-236220" algn="l" rtl="0">
              <a:spcBef>
                <a:spcPts val="480"/>
              </a:spcBef>
              <a:spcAft>
                <a:spcPts val="0"/>
              </a:spcAft>
              <a:buSzPts val="1680"/>
              <a:buNone/>
            </a:pPr>
            <a:endParaRPr sz="24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java_logo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2325" y="1905000"/>
            <a:ext cx="49593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592</Words>
  <Application>Microsoft Office PowerPoint</Application>
  <PresentationFormat>On-screen Show (4:3)</PresentationFormat>
  <Paragraphs>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Noto Sans Symbols</vt:lpstr>
      <vt:lpstr>Tahoma</vt:lpstr>
      <vt:lpstr>Arial</vt:lpstr>
      <vt:lpstr>1_Network</vt:lpstr>
      <vt:lpstr>Network</vt:lpstr>
      <vt:lpstr>  WIX1002 Fundamentals of Programming</vt:lpstr>
      <vt:lpstr>Learning Outcomes</vt:lpstr>
      <vt:lpstr>Syllabus</vt:lpstr>
      <vt:lpstr>Syllabus</vt:lpstr>
      <vt:lpstr>References</vt:lpstr>
      <vt:lpstr>References</vt:lpstr>
      <vt:lpstr>Time Table</vt:lpstr>
      <vt:lpstr>Assessments</vt:lpstr>
      <vt:lpstr>Assessments</vt:lpstr>
      <vt:lpstr>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WIX1002 Fundamentals of Programming</dc:title>
  <dc:creator>UM</dc:creator>
  <cp:lastModifiedBy>UNAIZAH HANUM BINTI OBAIDELLAH</cp:lastModifiedBy>
  <cp:revision>13</cp:revision>
  <dcterms:created xsi:type="dcterms:W3CDTF">2001-09-03T08:02:12Z</dcterms:created>
  <dcterms:modified xsi:type="dcterms:W3CDTF">2025-10-12T10:40:25Z</dcterms:modified>
</cp:coreProperties>
</file>